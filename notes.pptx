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5" r:id="rId16"/>
    <p:sldId id="266" r:id="rId17"/>
    <p:sldId id="267" r:id="rId18"/>
    <p:sldId id="268" r:id="rId19"/>
    <p:sldId id="269" r:id="rId20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1C2120"/>
                </a:solidFill>
                <a:latin typeface="Aptos Display"/>
              </a:rPr>
              <a:t>Learn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1C2120"/>
                </a:solidFill>
                <a:latin typeface="Aptos Display"/>
              </a:rPr>
              <a:t>1. What is Git and how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1C2120"/>
                </a:solidFill>
                <a:latin typeface="Aptos Display"/>
              </a:rPr>
              <a:t>2. GitHub and how to use it on your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1C2120"/>
                </a:solidFill>
                <a:latin typeface="Aptos Display"/>
              </a:rPr>
              <a:t>3. Introduction to Vercel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06440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E6562"/>
                </a:solidFill>
                <a:latin typeface="Aptos"/>
              </a:rPr>
              <a:t>From local files → version control → GitHub → a live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What is Git?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The foundation of version control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78892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120"/>
                </a:solidFill>
                <a:latin typeface="Aptos"/>
              </a:rPr>
              <a:t>A version control system — a tool that tracks changes to your files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E6562"/>
                </a:solidFill>
                <a:latin typeface="Aptos"/>
              </a:rPr>
              <a:t>Think of it like a powerful “undo history” for your entire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32120"/>
            <a:ext cx="214884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5C50"/>
                </a:solidFill>
                <a:latin typeface="Aptos"/>
              </a:rPr>
              <a:t>Version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641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532120"/>
            <a:ext cx="214884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56967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5C50"/>
                </a:solidFill>
                <a:latin typeface="Aptos"/>
              </a:rPr>
              <a:t>Version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641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532120"/>
            <a:ext cx="214884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6967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5C50"/>
                </a:solidFill>
                <a:latin typeface="Aptos"/>
              </a:rPr>
              <a:t>Version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Why use version control?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Git helps you work with confidence.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761488"/>
            <a:ext cx="502920" cy="50292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25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5C50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679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Track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0998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See exactly what changed and when.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46888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1655" y="2761488"/>
            <a:ext cx="502920" cy="50292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2825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5C5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679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Restore old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0998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Go back when something breaks.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2336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315968"/>
            <a:ext cx="502920" cy="50292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3799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5C50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233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Experiment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542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Try ideas without losing your main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02336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5" y="4315968"/>
            <a:ext cx="502920" cy="50292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43799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5C50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233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Collaborate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46542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Work with others on the same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31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20917E"/>
                </a:solidFill>
                <a:latin typeface="Aptos Display"/>
              </a:rPr>
              <a:t>A simple Git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1435607" y="2240280"/>
            <a:ext cx="868680" cy="868680"/>
          </a:xfrm>
          <a:prstGeom prst="ellipse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35607" y="24597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2624328"/>
            <a:ext cx="1691640" cy="54864"/>
          </a:xfrm>
          <a:prstGeom prst="rect">
            <a:avLst/>
          </a:prstGeom>
          <a:solidFill>
            <a:srgbClr val="60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BEFED"/>
                </a:solidFill>
                <a:latin typeface="Aptos"/>
              </a:rPr>
              <a:t>Edit files</a:t>
            </a:r>
          </a:p>
        </p:txBody>
      </p:sp>
      <p:sp>
        <p:nvSpPr>
          <p:cNvPr id="7" name="Oval 6"/>
          <p:cNvSpPr/>
          <p:nvPr/>
        </p:nvSpPr>
        <p:spPr>
          <a:xfrm>
            <a:off x="4288536" y="2240280"/>
            <a:ext cx="868680" cy="868680"/>
          </a:xfrm>
          <a:prstGeom prst="ellipse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24597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2624328"/>
            <a:ext cx="1691640" cy="54864"/>
          </a:xfrm>
          <a:prstGeom prst="rect">
            <a:avLst/>
          </a:prstGeom>
          <a:solidFill>
            <a:srgbClr val="60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BEFED"/>
                </a:solidFill>
                <a:latin typeface="Aptos"/>
              </a:rPr>
              <a:t>Stage changes</a:t>
            </a:r>
          </a:p>
        </p:txBody>
      </p:sp>
      <p:sp>
        <p:nvSpPr>
          <p:cNvPr id="11" name="Oval 10"/>
          <p:cNvSpPr/>
          <p:nvPr/>
        </p:nvSpPr>
        <p:spPr>
          <a:xfrm>
            <a:off x="7141464" y="2240280"/>
            <a:ext cx="868680" cy="868680"/>
          </a:xfrm>
          <a:prstGeom prst="ellipse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1464" y="24597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624328"/>
            <a:ext cx="1691640" cy="54864"/>
          </a:xfrm>
          <a:prstGeom prst="rect">
            <a:avLst/>
          </a:prstGeom>
          <a:solidFill>
            <a:srgbClr val="60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BEFED"/>
                </a:solidFill>
                <a:latin typeface="Aptos"/>
              </a:rPr>
              <a:t>Commit</a:t>
            </a:r>
          </a:p>
        </p:txBody>
      </p:sp>
      <p:sp>
        <p:nvSpPr>
          <p:cNvPr id="15" name="Oval 14"/>
          <p:cNvSpPr/>
          <p:nvPr/>
        </p:nvSpPr>
        <p:spPr>
          <a:xfrm>
            <a:off x="9994392" y="2240280"/>
            <a:ext cx="868680" cy="868680"/>
          </a:xfrm>
          <a:prstGeom prst="ellipse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94392" y="24597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BEFED"/>
                </a:solidFill>
                <a:latin typeface="Aptos"/>
              </a:rP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3CDC9"/>
                </a:solidFill>
                <a:latin typeface="Aptos"/>
              </a:rPr>
              <a:t>Each commit is a meaningful checkpoint in your project's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Local version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What is GitHub?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A place to store, manage and share Git repositories online.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120"/>
                </a:solidFill>
                <a:latin typeface="Aptos"/>
              </a:rPr>
              <a:t>With GitHub, you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182880" cy="182880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4495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2120"/>
                </a:solidFill>
                <a:latin typeface="Aptos"/>
              </a:rPr>
              <a:t>Store your project files in repositories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30752"/>
            <a:ext cx="182880" cy="182880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66744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2120"/>
                </a:solidFill>
                <a:latin typeface="Aptos"/>
              </a:rPr>
              <a:t>Keep a full history of your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52544"/>
            <a:ext cx="182880" cy="182880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88536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2120"/>
                </a:solidFill>
                <a:latin typeface="Aptos"/>
              </a:rPr>
              <a:t>Access your work from different computers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974336"/>
            <a:ext cx="182880" cy="182880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1032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2120"/>
                </a:solidFill>
                <a:latin typeface="Aptos"/>
              </a:rPr>
              <a:t>Collaborate and share projects with 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What can you store on GitHub?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From complete applications to simple notes.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2606040"/>
            <a:ext cx="2907792" cy="530352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76148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1. Your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2606040" cy="658368"/>
          </a:xfrm>
          <a:prstGeom prst="roundRect">
            <a:avLst/>
          </a:prstGeom>
          <a:solidFill>
            <a:srgbClr val="E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639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5C50"/>
                </a:solidFill>
                <a:latin typeface="Consolas"/>
              </a:rPr>
              <a:t>index.html   styles.css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1596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562"/>
                </a:solidFill>
                <a:latin typeface="Aptos"/>
              </a:rPr>
              <a:t>HTML, CSS, JavaScript and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317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2606040"/>
            <a:ext cx="2907792" cy="530352"/>
          </a:xfrm>
          <a:prstGeom prst="roundRect">
            <a:avLst/>
          </a:prstGeom>
          <a:solidFill>
            <a:srgbClr val="145C50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76148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2. Application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429000"/>
            <a:ext cx="2606040" cy="658368"/>
          </a:xfrm>
          <a:prstGeom prst="roundRect">
            <a:avLst/>
          </a:prstGeom>
          <a:solidFill>
            <a:srgbClr val="E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639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5C50"/>
                </a:solidFill>
                <a:latin typeface="Consolas"/>
              </a:rPr>
              <a:t>app.js   package.json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31596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562"/>
                </a:solidFill>
                <a:latin typeface="Aptos"/>
              </a:rPr>
              <a:t>Source code, dependencies and configuration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33172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2606040"/>
            <a:ext cx="2907792" cy="530352"/>
          </a:xfrm>
          <a:prstGeom prst="roundRect">
            <a:avLst/>
          </a:prstGeom>
          <a:solidFill>
            <a:srgbClr val="20917E"/>
          </a:solidFill>
          <a:ln>
            <a:solidFill>
              <a:srgbClr val="20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76148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3. Text &amp;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429000"/>
            <a:ext cx="2606040" cy="658368"/>
          </a:xfrm>
          <a:prstGeom prst="roundRect">
            <a:avLst/>
          </a:prstGeom>
          <a:solidFill>
            <a:srgbClr val="E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3639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5C50"/>
                </a:solidFill>
                <a:latin typeface="Consolas"/>
              </a:rPr>
              <a:t>README.md   notes.txt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31596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562"/>
                </a:solidFill>
                <a:latin typeface="Aptos"/>
              </a:rPr>
              <a:t>README files, notes and project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How GitHub connects to your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Git works locally. GitHub stores a remote copy online.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5C50"/>
                </a:solidFill>
                <a:latin typeface="Aptos"/>
              </a:rPr>
              <a:t>Computer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E6562"/>
                </a:solidFill>
                <a:latin typeface="Aptos"/>
              </a:rPr>
              <a:t>Create / 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6060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9077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5C50"/>
                </a:solidFill>
                <a:latin typeface="Aptos"/>
              </a:rP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383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E6562"/>
                </a:solidFill>
                <a:latin typeface="Aptos"/>
              </a:rPr>
              <a:t>Track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6060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9077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5C50"/>
                </a:solidFill>
                <a:latin typeface="Aptos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383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E6562"/>
                </a:solidFill>
                <a:latin typeface="Aptos"/>
              </a:rPr>
              <a:t>Push &amp;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C2120"/>
                </a:solidFill>
                <a:latin typeface="Aptos"/>
              </a:rPr>
              <a:t>You write code locally, commit your work with Git, and push it to GitHub.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120"/>
                </a:solidFill>
                <a:latin typeface="Aptos Display"/>
              </a:rPr>
              <a:t>Introduction to Vercel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E6562"/>
                </a:solidFill>
                <a:latin typeface="Aptos"/>
              </a:rPr>
              <a:t>From a repository to a live website.</a:t>
            </a:r>
          </a:p>
        </p:txBody>
      </p:sp>
      <p:sp>
        <p:nvSpPr>
          <p:cNvPr id="5" name="Oval 4"/>
          <p:cNvSpPr/>
          <p:nvPr/>
        </p:nvSpPr>
        <p:spPr>
          <a:xfrm>
            <a:off x="10469880" y="548640"/>
            <a:ext cx="1325880" cy="1325880"/>
          </a:xfrm>
          <a:prstGeom prst="ellipse">
            <a:avLst/>
          </a:prstGeom>
          <a:solidFill>
            <a:srgbClr val="E0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0" y="5394960"/>
            <a:ext cx="1005840" cy="1005840"/>
          </a:xfrm>
          <a:prstGeom prst="ellipse">
            <a:avLst/>
          </a:prstGeom>
          <a:solidFill>
            <a:srgbClr val="EA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120"/>
                </a:solidFill>
                <a:latin typeface="Aptos"/>
              </a:rPr>
              <a:t>Vercel is a cloud platform that helps you build and deploy modern web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290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0917E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120"/>
                </a:solidFill>
                <a:latin typeface="Aptos"/>
              </a:rPr>
              <a:t>Connect your 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931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0917E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120"/>
                </a:solidFill>
                <a:latin typeface="Aptos"/>
              </a:rPr>
              <a:t>Vercel builds your project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4348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0917E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120"/>
                </a:solidFill>
                <a:latin typeface="Aptos"/>
              </a:rPr>
              <a:t>New pushes can trigger new deployments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377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0917E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120"/>
                </a:solidFill>
                <a:latin typeface="Aptos"/>
              </a:rPr>
              <a:t>Receive a live URL to share your project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9966960" y="2194560"/>
            <a:ext cx="1417320" cy="1234440"/>
          </a:xfrm>
          <a:prstGeom prst="triangle">
            <a:avLst/>
          </a:prstGeom>
          <a:solidFill>
            <a:srgbClr val="1F2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Vercel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20917E"/>
                </a:solidFill>
                <a:latin typeface="Aptos Display"/>
              </a:rPr>
              <a:t>From code to a live website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2423160"/>
            <a:ext cx="1874519" cy="1234440"/>
          </a:xfrm>
          <a:prstGeom prst="roundRect">
            <a:avLst/>
          </a:prstGeom>
          <a:solidFill>
            <a:srgbClr val="2B302F"/>
          </a:solidFill>
          <a:ln>
            <a:solidFill>
              <a:srgbClr val="145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79192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Your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81528"/>
            <a:ext cx="1655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3BE"/>
                </a:solidFill>
                <a:latin typeface="Aptos"/>
              </a:rPr>
              <a:t>Write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1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6624" y="2423160"/>
            <a:ext cx="1874519" cy="1234440"/>
          </a:xfrm>
          <a:prstGeom prst="roundRect">
            <a:avLst/>
          </a:prstGeom>
          <a:solidFill>
            <a:srgbClr val="2B302F"/>
          </a:solidFill>
          <a:ln>
            <a:solidFill>
              <a:srgbClr val="145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2679192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3081528"/>
            <a:ext cx="1655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3BE"/>
                </a:solidFill>
                <a:latin typeface="Aptos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2423160"/>
            <a:ext cx="1874519" cy="1234440"/>
          </a:xfrm>
          <a:prstGeom prst="roundRect">
            <a:avLst/>
          </a:prstGeom>
          <a:solidFill>
            <a:srgbClr val="2B302F"/>
          </a:solidFill>
          <a:ln>
            <a:solidFill>
              <a:srgbClr val="145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679192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3081528"/>
            <a:ext cx="1655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3BE"/>
                </a:solidFill>
                <a:latin typeface="Aptos"/>
              </a:rP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8" y="2423160"/>
            <a:ext cx="1874519" cy="1234440"/>
          </a:xfrm>
          <a:prstGeom prst="roundRect">
            <a:avLst/>
          </a:prstGeom>
          <a:solidFill>
            <a:srgbClr val="2B302F"/>
          </a:solidFill>
          <a:ln>
            <a:solidFill>
              <a:srgbClr val="145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2679192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3081528"/>
            <a:ext cx="1655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3BE"/>
                </a:solidFill>
                <a:latin typeface="Aptos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0917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423160"/>
            <a:ext cx="1874519" cy="1234440"/>
          </a:xfrm>
          <a:prstGeom prst="roundRect">
            <a:avLst/>
          </a:prstGeom>
          <a:solidFill>
            <a:srgbClr val="2B302F"/>
          </a:solidFill>
          <a:ln>
            <a:solidFill>
              <a:srgbClr val="145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2679192"/>
            <a:ext cx="1655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Live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3081528"/>
            <a:ext cx="1655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3BE"/>
                </a:solidFill>
                <a:latin typeface="Aptos"/>
              </a:rPr>
              <a:t>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EBEFED"/>
                </a:solidFill>
                <a:latin typeface="Aptos"/>
              </a:rPr>
              <a:t>Write → Track → Push → Deploy →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BFBA"/>
                </a:solidFill>
                <a:latin typeface="Aptos"/>
              </a:rPr>
              <a:t>A clean workflow for taking your project from your computer to the web.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End of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2120"/>
                </a:solidFill>
                <a:latin typeface="Aptos Display"/>
              </a:rPr>
              <a:t>What is a .env file?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6562"/>
                </a:solidFill>
                <a:latin typeface="Aptos"/>
              </a:rPr>
              <a:t>A file used to store environment variables and configuration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C2120"/>
                </a:solidFill>
                <a:latin typeface="Aptos"/>
              </a:rPr>
              <a:t>It keeps important configuration separate from your application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520440"/>
            <a:ext cx="5074920" cy="1691640"/>
          </a:xfrm>
          <a:prstGeom prst="roundRect">
            <a:avLst/>
          </a:prstGeom>
          <a:solidFill>
            <a:srgbClr val="1F2322"/>
          </a:solidFill>
          <a:ln>
            <a:solidFill>
              <a:srgbClr val="1F2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BE5"/>
                </a:solidFill>
                <a:latin typeface="Consolas"/>
              </a:rPr>
              <a:t># .env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DATABASE_URL=postgres://example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API_KEY=your_secret_key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DEBUG=False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52044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7673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5C50"/>
                </a:solidFill>
                <a:latin typeface="Aptos"/>
              </a:rPr>
              <a:t>Common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187952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6562"/>
                </a:solidFill>
                <a:latin typeface="Aptos"/>
              </a:rPr>
              <a:t>• API keys</a:t>
            </a:r>
            <a:br/>
            <a:r>
              <a:rPr sz="1500" b="0" i="0">
                <a:solidFill>
                  <a:srgbClr val="5E6562"/>
                </a:solidFill>
                <a:latin typeface="Aptos"/>
              </a:rPr>
              <a:t>• Database URLs</a:t>
            </a:r>
            <a:br/>
            <a:r>
              <a:rPr sz="1500" b="0" i="0">
                <a:solidFill>
                  <a:srgbClr val="5E6562"/>
                </a:solidFill>
                <a:latin typeface="Aptos"/>
              </a:rPr>
              <a:t>• Secret tokens</a:t>
            </a:r>
            <a:br/>
            <a:r>
              <a:rPr sz="1500" b="0" i="0">
                <a:solidFill>
                  <a:srgbClr val="5E6562"/>
                </a:solidFill>
                <a:latin typeface="Aptos"/>
              </a:rPr>
              <a:t>• Environment-specific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5C50"/>
                </a:solidFill>
                <a:latin typeface="Aptos"/>
              </a:rPr>
              <a:t>Important: values inside .env can contain sensitive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Project Files • Vercel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2120"/>
                </a:solidFill>
                <a:latin typeface="Aptos Display"/>
              </a:rPr>
              <a:t>Why is a .env file important?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6562"/>
                </a:solidFill>
                <a:latin typeface="Aptos"/>
              </a:rPr>
              <a:t>It helps keep secrets and configuration outside your source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999232"/>
            <a:ext cx="59436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172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5C5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990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6732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Avoid placing passwords, tokens and API keys directly in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7432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8" y="2999232"/>
            <a:ext cx="59436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172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5C5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990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Flexibility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76732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Use different values for development, testing and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7432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76488" y="2999232"/>
            <a:ext cx="594360" cy="594360"/>
          </a:xfrm>
          <a:prstGeom prst="roundRect">
            <a:avLst/>
          </a:prstGeom>
          <a:solidFill>
            <a:srgbClr val="E0F1EC"/>
          </a:solidFill>
          <a:ln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3172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5C5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2990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120"/>
                </a:solidFill>
                <a:latin typeface="Aptos"/>
              </a:rPr>
              <a:t>Cleaner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76732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562"/>
                </a:solidFill>
                <a:latin typeface="Aptos"/>
              </a:rPr>
              <a:t>Keep configuration separate from application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2120"/>
                </a:solidFill>
                <a:latin typeface="Aptos"/>
              </a:rPr>
              <a:t>Example: your code reads an environment variable instead of storing the secret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Project Files • Vercel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2120"/>
                </a:solidFill>
                <a:latin typeface="Aptos Display"/>
              </a:rPr>
              <a:t>What is requirements.txt?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6562"/>
                </a:solidFill>
                <a:latin typeface="Aptos"/>
              </a:rPr>
              <a:t>A file commonly used in Python projects to list required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614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120"/>
                </a:solidFill>
                <a:latin typeface="Aptos"/>
              </a:rPr>
              <a:t>It tells another developer or server which Python libraries your project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520440"/>
            <a:ext cx="4937760" cy="1691640"/>
          </a:xfrm>
          <a:prstGeom prst="roundRect">
            <a:avLst/>
          </a:prstGeom>
          <a:solidFill>
            <a:srgbClr val="1F2322"/>
          </a:solidFill>
          <a:ln>
            <a:solidFill>
              <a:srgbClr val="1F2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BE5"/>
                </a:solidFill>
                <a:latin typeface="Consolas"/>
              </a:rPr>
              <a:t># requirements.txt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flask==3.0.0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requests==2.31.0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python-dotenv==1.0.0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520440"/>
            <a:ext cx="51206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307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5C50"/>
                </a:solidFill>
                <a:latin typeface="Aptos"/>
              </a:rPr>
              <a:t>Why it is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6562"/>
                </a:solidFill>
                <a:latin typeface="Aptos"/>
              </a:rPr>
              <a:t>✓ Makes setup reproducible</a:t>
            </a:r>
            <a:br/>
            <a:r>
              <a:rPr sz="1400" b="0" i="0">
                <a:solidFill>
                  <a:srgbClr val="5E6562"/>
                </a:solidFill>
                <a:latin typeface="Aptos"/>
              </a:rPr>
              <a:t>✓ Documents project dependencies</a:t>
            </a:r>
            <a:br/>
            <a:r>
              <a:rPr sz="1400" b="0" i="0">
                <a:solidFill>
                  <a:srgbClr val="5E6562"/>
                </a:solidFill>
                <a:latin typeface="Aptos"/>
              </a:rPr>
              <a:t>✓ Helps deployment platforms install packages</a:t>
            </a:r>
            <a:br/>
            <a:r>
              <a:rPr sz="1400" b="0" i="0">
                <a:solidFill>
                  <a:srgbClr val="5E6562"/>
                </a:solidFill>
                <a:latin typeface="Aptos"/>
              </a:rPr>
              <a:t>✓ Makes sharing projects easier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509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5C50"/>
                </a:solidFill>
                <a:latin typeface="Consolas"/>
              </a:rPr>
              <a:t>Example command:  pip install -r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Project Files • Vercel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2120"/>
                </a:solidFill>
                <a:latin typeface="Aptos Display"/>
              </a:rPr>
              <a:t>What is .gitignore?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7498079" cy="73152"/>
          </a:xfrm>
          <a:prstGeom prst="rect">
            <a:avLst/>
          </a:prstGeom>
          <a:solidFill>
            <a:srgbClr val="20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6562"/>
                </a:solidFill>
                <a:latin typeface="Aptos"/>
              </a:rPr>
              <a:t>A file that tells Git which files and folders should not be tracked.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C2120"/>
                </a:solidFill>
                <a:latin typeface="Aptos"/>
              </a:rPr>
              <a:t>You use .gitignore to prevent unnecessary, generated or sensitive files from being uploaded to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429000"/>
            <a:ext cx="4846320" cy="1874519"/>
          </a:xfrm>
          <a:prstGeom prst="roundRect">
            <a:avLst/>
          </a:prstGeom>
          <a:solidFill>
            <a:srgbClr val="1F2322"/>
          </a:solidFill>
          <a:ln>
            <a:solidFill>
              <a:srgbClr val="1F2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343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BE5"/>
                </a:solidFill>
                <a:latin typeface="Consolas"/>
              </a:rPr>
              <a:t># .gitignore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.env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__pycache__/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venv/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node_modules/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*.log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342900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36758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5C50"/>
                </a:solidFill>
                <a:latin typeface="Aptos"/>
              </a:rPr>
              <a:t>Why is .env gitignored?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133087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6562"/>
                </a:solidFill>
                <a:latin typeface="Aptos"/>
              </a:rPr>
              <a:t>A .env file may contain passwords, API keys or secret tokens.</a:t>
            </a:r>
            <a:br/>
            <a:br/>
            <a:r>
              <a:rPr sz="1400" b="0" i="0">
                <a:solidFill>
                  <a:srgbClr val="5E6562"/>
                </a:solidFill>
                <a:latin typeface="Aptos"/>
              </a:rPr>
              <a:t>If it is pushed to a public repository, those secrets can be exposed.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5099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5C50"/>
                </a:solidFill>
                <a:latin typeface="Aptos"/>
              </a:rPr>
              <a:t>Simple rule: commit the code — do not commit the secrets.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Git • GitHub • Project Files • Vercel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20917E"/>
                </a:solidFill>
                <a:latin typeface="Aptos Display"/>
              </a:rPr>
              <a:t>A clean 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74519"/>
            <a:ext cx="5486400" cy="3063240"/>
          </a:xfrm>
          <a:prstGeom prst="roundRect">
            <a:avLst/>
          </a:prstGeom>
          <a:solidFill>
            <a:srgbClr val="1F2322"/>
          </a:solidFill>
          <a:ln>
            <a:solidFill>
              <a:srgbClr val="1F2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103120"/>
            <a:ext cx="4983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BE5"/>
                </a:solidFill>
                <a:latin typeface="Consolas"/>
              </a:rPr>
              <a:t>my-project/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├── app.py                 ✓ tracked by Git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├── requirements.txt       ✓ tracked by Git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├── .gitignore             ✓ tracked by Git</a:t>
            </a:r>
            <a:br/>
            <a:r>
              <a:rPr sz="1500" b="0" i="0">
                <a:solidFill>
                  <a:srgbClr val="DCEBE5"/>
                </a:solidFill>
                <a:latin typeface="Consolas"/>
              </a:rPr>
              <a:t>└── .env                   ✗ ignored by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5160" y="19933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What goes where?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269748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7E2DD"/>
                </a:solidFill>
                <a:latin typeface="Aptos"/>
              </a:rPr>
              <a:t>✓ Source code → GitHub</a:t>
            </a:r>
            <a:br/>
            <a:r>
              <a:rPr sz="1600" b="0" i="0">
                <a:solidFill>
                  <a:srgbClr val="D7E2DD"/>
                </a:solidFill>
                <a:latin typeface="Aptos"/>
              </a:rPr>
              <a:t>✓ requirements.txt → GitHub</a:t>
            </a:r>
            <a:br/>
            <a:r>
              <a:rPr sz="1600" b="0" i="0">
                <a:solidFill>
                  <a:srgbClr val="D7E2DD"/>
                </a:solidFill>
                <a:latin typeface="Aptos"/>
              </a:rPr>
              <a:t>✓ .gitignore → GitHub</a:t>
            </a:r>
            <a:br/>
            <a:r>
              <a:rPr sz="1600" b="0" i="0">
                <a:solidFill>
                  <a:srgbClr val="D7E2DD"/>
                </a:solidFill>
                <a:latin typeface="Aptos"/>
              </a:rPr>
              <a:t>✗ .env with secrets → keep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4709160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917E"/>
                </a:solidFill>
                <a:latin typeface="Aptos"/>
              </a:rPr>
              <a:t>This keeps your project reproducible while protecting sensitive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6562"/>
                </a:solidFill>
                <a:latin typeface="Aptos"/>
              </a:rPr>
              <a:t>Project structure • Git •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